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al" charset="1" panose="020B0604020202020204"/>
      <p:regular r:id="rId15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Calibri (MS) Bold" charset="1" panose="020F0702030404030204"/>
      <p:regular r:id="rId21"/>
    </p:embeddedFont>
    <p:embeddedFont>
      <p:font typeface="Calibri (MS)" charset="1" panose="020F0502020204030204"/>
      <p:regular r:id="rId22"/>
    </p:embeddedFont>
    <p:embeddedFont>
      <p:font typeface="Arial Bold Italics" charset="1" panose="020B070402020209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5.jpe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5.jpe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5.jpeg" Type="http://schemas.openxmlformats.org/officeDocument/2006/relationships/image"/><Relationship Id="rId6" Target="../media/image12.jpe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5.jpe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6.png" Type="http://schemas.openxmlformats.org/officeDocument/2006/relationships/image"/><Relationship Id="rId5" Target="../media/image5.jpe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0" t="0" r="-27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87912" y="1920644"/>
            <a:ext cx="9422116" cy="7781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7"/>
              </a:lnSpc>
            </a:pPr>
          </a:p>
          <a:p>
            <a:pPr algn="just" marL="498877" indent="-249439" lvl="1">
              <a:lnSpc>
                <a:spcPts val="6615"/>
              </a:lnSpc>
              <a:buFont typeface="Arial"/>
              <a:buChar char="•"/>
            </a:pPr>
            <a:r>
              <a:rPr lang="en-US" b="true" sz="275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SIH26034</a:t>
            </a:r>
          </a:p>
          <a:p>
            <a:pPr algn="just" marL="498877" indent="-249439" lvl="1">
              <a:lnSpc>
                <a:spcPts val="6615"/>
              </a:lnSpc>
              <a:buFont typeface="Arial"/>
              <a:buChar char="•"/>
            </a:pPr>
            <a:r>
              <a:rPr lang="en-US" b="true" sz="275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System to check compliance of Packaged Commodities under Legal Metrology(Packaged Commodities) Rules, 2011 by scanning products, images and labels. </a:t>
            </a:r>
          </a:p>
          <a:p>
            <a:pPr algn="just" marL="498877" indent="-249439" lvl="1">
              <a:lnSpc>
                <a:spcPts val="6615"/>
              </a:lnSpc>
              <a:buFont typeface="Arial"/>
              <a:buChar char="•"/>
            </a:pPr>
            <a:r>
              <a:rPr lang="en-US" b="true" sz="275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Miscellaneous</a:t>
            </a:r>
          </a:p>
          <a:p>
            <a:pPr algn="just" marL="498877" indent="-249439" lvl="1">
              <a:lnSpc>
                <a:spcPts val="6615"/>
              </a:lnSpc>
              <a:buFont typeface="Arial"/>
              <a:buChar char="•"/>
            </a:pPr>
            <a:r>
              <a:rPr lang="en-US" b="true" sz="275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just" marL="498877" indent="-249439" lvl="1">
              <a:lnSpc>
                <a:spcPts val="6615"/>
              </a:lnSpc>
              <a:buFont typeface="Arial"/>
              <a:buChar char="•"/>
            </a:pPr>
            <a:r>
              <a:rPr lang="en-US" b="true" sz="275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498877" indent="-249439" lvl="1">
              <a:lnSpc>
                <a:spcPts val="6615"/>
              </a:lnSpc>
              <a:buFont typeface="Arial"/>
              <a:buChar char="•"/>
            </a:pPr>
            <a:r>
              <a:rPr lang="en-US" b="true" sz="275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27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Hexad Debuggers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Hexad Debuggers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7" id="17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0" t="0" r="-27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475612" y="1332100"/>
            <a:ext cx="12246627" cy="988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9"/>
              </a:lnSpc>
            </a:pPr>
          </a:p>
          <a:p>
            <a:pPr algn="l">
              <a:lnSpc>
                <a:spcPts val="3229"/>
              </a:lnSpc>
            </a:pPr>
            <a:r>
              <a:rPr lang="en-US" sz="269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Solution</a:t>
            </a:r>
          </a:p>
          <a:p>
            <a:pPr algn="l">
              <a:lnSpc>
                <a:spcPts val="3229"/>
              </a:lnSpc>
              <a:spcBef>
                <a:spcPct val="0"/>
              </a:spcBef>
            </a:pPr>
            <a:r>
              <a:rPr lang="en-US" sz="269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smart AI-powered system that automatically scans, extracts, understands, and validates product label declarations against applicable Legal Metr</a:t>
            </a:r>
            <a:r>
              <a:rPr lang="en-US" sz="269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ology rules.</a:t>
            </a:r>
          </a:p>
          <a:p>
            <a:pPr algn="l">
              <a:lnSpc>
                <a:spcPts val="3229"/>
              </a:lnSpc>
              <a:spcBef>
                <a:spcPct val="0"/>
              </a:spcBef>
            </a:pPr>
          </a:p>
          <a:p>
            <a:pPr algn="l">
              <a:lnSpc>
                <a:spcPts val="3229"/>
              </a:lnSpc>
              <a:spcBef>
                <a:spcPct val="0"/>
              </a:spcBef>
            </a:pPr>
            <a:r>
              <a:rPr lang="en-US" b="true" sz="269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Benefits</a:t>
            </a:r>
          </a:p>
          <a:p>
            <a:pPr algn="l" marL="580964" indent="-290482" lvl="1">
              <a:lnSpc>
                <a:spcPts val="3229"/>
              </a:lnSpc>
              <a:spcBef>
                <a:spcPct val="0"/>
              </a:spcBef>
              <a:buFont typeface="Arial"/>
              <a:buChar char="•"/>
            </a:pPr>
            <a:r>
              <a:rPr lang="en-US" sz="269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Instant label scanning using image upload/camera.</a:t>
            </a:r>
          </a:p>
          <a:p>
            <a:pPr algn="l" marL="580964" indent="-290482" lvl="1">
              <a:lnSpc>
                <a:spcPts val="3229"/>
              </a:lnSpc>
              <a:spcBef>
                <a:spcPct val="0"/>
              </a:spcBef>
              <a:buFont typeface="Arial"/>
              <a:buChar char="•"/>
            </a:pPr>
            <a:r>
              <a:rPr lang="en-US" sz="269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69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OCR-based text extraction from product packaging.</a:t>
            </a:r>
          </a:p>
          <a:p>
            <a:pPr algn="l" marL="580964" indent="-290482" lvl="1">
              <a:lnSpc>
                <a:spcPts val="3229"/>
              </a:lnSpc>
              <a:spcBef>
                <a:spcPct val="0"/>
              </a:spcBef>
              <a:buFont typeface="Arial"/>
              <a:buChar char="•"/>
            </a:pPr>
            <a:r>
              <a:rPr lang="en-US" sz="269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69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compliance checking against Legal Metrology requirements.</a:t>
            </a:r>
          </a:p>
          <a:p>
            <a:pPr algn="l" marL="580964" indent="-290482" lvl="1">
              <a:lnSpc>
                <a:spcPts val="3229"/>
              </a:lnSpc>
              <a:spcBef>
                <a:spcPct val="0"/>
              </a:spcBef>
              <a:buFont typeface="Arial"/>
              <a:buChar char="•"/>
            </a:pPr>
            <a:r>
              <a:rPr lang="en-US" sz="269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69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Clear compliance report highlighting missing or potentially incorrect declarations.</a:t>
            </a:r>
          </a:p>
          <a:p>
            <a:pPr algn="l">
              <a:lnSpc>
                <a:spcPts val="3229"/>
              </a:lnSpc>
              <a:spcBef>
                <a:spcPct val="0"/>
              </a:spcBef>
            </a:pPr>
            <a:r>
              <a:rPr lang="en-US" b="true" sz="269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Innovation</a:t>
            </a:r>
          </a:p>
          <a:p>
            <a:pPr algn="l" marL="580964" indent="-290482" lvl="1">
              <a:lnSpc>
                <a:spcPts val="3229"/>
              </a:lnSpc>
              <a:spcBef>
                <a:spcPct val="0"/>
              </a:spcBef>
              <a:buFont typeface="Arial"/>
              <a:buChar char="•"/>
            </a:pPr>
            <a:r>
              <a:rPr lang="en-US" sz="269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compliance screening – Automatically scans product packaging and checks required declarations.</a:t>
            </a:r>
          </a:p>
          <a:p>
            <a:pPr algn="l" marL="580964" indent="-290482" lvl="1">
              <a:lnSpc>
                <a:spcPts val="3229"/>
              </a:lnSpc>
              <a:spcBef>
                <a:spcPct val="0"/>
              </a:spcBef>
              <a:buFont typeface="Arial"/>
              <a:buChar char="•"/>
            </a:pPr>
            <a:r>
              <a:rPr lang="en-US" sz="269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Generic product processing – Works with different products using a general compliance pipeline, not product-specific logic.</a:t>
            </a:r>
          </a:p>
          <a:p>
            <a:pPr algn="l" marL="580964" indent="-290482" lvl="1">
              <a:lnSpc>
                <a:spcPts val="3229"/>
              </a:lnSpc>
              <a:spcBef>
                <a:spcPct val="0"/>
              </a:spcBef>
              <a:buFont typeface="Arial"/>
              <a:buChar char="•"/>
            </a:pPr>
            <a:r>
              <a:rPr lang="en-US" sz="269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Uncertainty-aware compliance – Shows YES when information is detected and UNCERTAIN when reliable detection is not possible. Poor image quality or OCR errors do not automatically mean non-compliance.</a:t>
            </a:r>
          </a:p>
          <a:p>
            <a:pPr algn="l" marL="580964" indent="-290482" lvl="1">
              <a:lnSpc>
                <a:spcPts val="3229"/>
              </a:lnSpc>
              <a:spcBef>
                <a:spcPct val="0"/>
              </a:spcBef>
              <a:buFont typeface="Arial"/>
              <a:buChar char="•"/>
            </a:pPr>
            <a:r>
              <a:rPr lang="en-US" sz="269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Explainable screening – Clearly identifies which required declarations were detected instead of simply showing FAIL.</a:t>
            </a:r>
          </a:p>
          <a:p>
            <a:pPr algn="l">
              <a:lnSpc>
                <a:spcPts val="3229"/>
              </a:lnSpc>
              <a:spcBef>
                <a:spcPct val="0"/>
              </a:spcBef>
            </a:pPr>
          </a:p>
          <a:p>
            <a:pPr algn="l">
              <a:lnSpc>
                <a:spcPts val="3229"/>
              </a:lnSpc>
              <a:spcBef>
                <a:spcPct val="0"/>
              </a:spcBef>
            </a:pPr>
          </a:p>
          <a:p>
            <a:pPr algn="l">
              <a:lnSpc>
                <a:spcPts val="3229"/>
              </a:lnSpc>
              <a:spcBef>
                <a:spcPct val="0"/>
              </a:spcBef>
            </a:pPr>
          </a:p>
          <a:p>
            <a:pPr algn="l">
              <a:lnSpc>
                <a:spcPts val="3229"/>
              </a:lnSpc>
              <a:spcBef>
                <a:spcPct val="0"/>
              </a:spcBef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364789" y="1791679"/>
            <a:ext cx="4008811" cy="7409471"/>
          </a:xfrm>
          <a:custGeom>
            <a:avLst/>
            <a:gdLst/>
            <a:ahLst/>
            <a:cxnLst/>
            <a:rect r="r" b="b" t="t" l="l"/>
            <a:pathLst>
              <a:path h="7409471" w="4008811">
                <a:moveTo>
                  <a:pt x="0" y="0"/>
                </a:moveTo>
                <a:lnTo>
                  <a:pt x="4008811" y="0"/>
                </a:lnTo>
                <a:lnTo>
                  <a:pt x="4008811" y="7409471"/>
                </a:lnTo>
                <a:lnTo>
                  <a:pt x="0" y="74094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113" t="-21014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Hexad Debuggers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7" id="17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0" t="0" r="-270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121558" y="7731769"/>
            <a:ext cx="7676820" cy="1586239"/>
          </a:xfrm>
          <a:custGeom>
            <a:avLst/>
            <a:gdLst/>
            <a:ahLst/>
            <a:cxnLst/>
            <a:rect r="r" b="b" t="t" l="l"/>
            <a:pathLst>
              <a:path h="1586239" w="7676820">
                <a:moveTo>
                  <a:pt x="0" y="0"/>
                </a:moveTo>
                <a:lnTo>
                  <a:pt x="7676820" y="0"/>
                </a:lnTo>
                <a:lnTo>
                  <a:pt x="7676820" y="1586239"/>
                </a:lnTo>
                <a:lnTo>
                  <a:pt x="0" y="15862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22" t="-344009" r="-870" b="-7623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321018" y="1712805"/>
            <a:ext cx="2954719" cy="6018965"/>
          </a:xfrm>
          <a:custGeom>
            <a:avLst/>
            <a:gdLst/>
            <a:ahLst/>
            <a:cxnLst/>
            <a:rect r="r" b="b" t="t" l="l"/>
            <a:pathLst>
              <a:path h="6018965" w="2954719">
                <a:moveTo>
                  <a:pt x="0" y="0"/>
                </a:moveTo>
                <a:lnTo>
                  <a:pt x="2954719" y="0"/>
                </a:lnTo>
                <a:lnTo>
                  <a:pt x="2954719" y="6018964"/>
                </a:lnTo>
                <a:lnTo>
                  <a:pt x="0" y="60189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96324" t="-28424" r="-85449" b="-68328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296472" y="1712805"/>
            <a:ext cx="5077128" cy="7518175"/>
          </a:xfrm>
          <a:custGeom>
            <a:avLst/>
            <a:gdLst/>
            <a:ahLst/>
            <a:cxnLst/>
            <a:rect r="r" b="b" t="t" l="l"/>
            <a:pathLst>
              <a:path h="7518175" w="5077128">
                <a:moveTo>
                  <a:pt x="0" y="0"/>
                </a:moveTo>
                <a:lnTo>
                  <a:pt x="5077128" y="0"/>
                </a:lnTo>
                <a:lnTo>
                  <a:pt x="5077128" y="7518175"/>
                </a:lnTo>
                <a:lnTo>
                  <a:pt x="0" y="75181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189" t="-1712" r="0" b="-1802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28700" y="1862558"/>
            <a:ext cx="5282332" cy="5706867"/>
          </a:xfrm>
          <a:custGeom>
            <a:avLst/>
            <a:gdLst/>
            <a:ahLst/>
            <a:cxnLst/>
            <a:rect r="r" b="b" t="t" l="l"/>
            <a:pathLst>
              <a:path h="5706867" w="5282332">
                <a:moveTo>
                  <a:pt x="0" y="0"/>
                </a:moveTo>
                <a:lnTo>
                  <a:pt x="5282332" y="0"/>
                </a:lnTo>
                <a:lnTo>
                  <a:pt x="5282332" y="5706866"/>
                </a:lnTo>
                <a:lnTo>
                  <a:pt x="0" y="57068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26958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75612" y="1579847"/>
            <a:ext cx="17812388" cy="901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04"/>
              </a:lnSpc>
            </a:pPr>
            <a:r>
              <a:rPr lang="en-US" b="true" sz="3170" u="sng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Feasibility</a:t>
            </a:r>
          </a:p>
          <a:p>
            <a:pPr algn="l" marL="588389" indent="-294194" lvl="1">
              <a:lnSpc>
                <a:spcPts val="32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existing OCR, image processing and AI/ML technologies to extract information from product labels.</a:t>
            </a:r>
          </a:p>
          <a:p>
            <a:pPr algn="l" marL="588389" indent="-294194" lvl="1">
              <a:lnSpc>
                <a:spcPts val="32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Compliance rules can be implemented as a rule based validation engine based on Legal Metrology (Packaged Commodities) Rules, 2011.</a:t>
            </a:r>
          </a:p>
          <a:p>
            <a:pPr algn="l" marL="588389" indent="-294194" lvl="1">
              <a:lnSpc>
                <a:spcPts val="32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Cloud/database infrastructure enables scalable storage of products, inspections and compliance reports.</a:t>
            </a:r>
          </a:p>
          <a:p>
            <a:pPr algn="l" marL="588389" indent="-294194" lvl="1">
              <a:lnSpc>
                <a:spcPts val="32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deployed as a web/mobile application with minimal additional hardware.</a:t>
            </a:r>
          </a:p>
          <a:p>
            <a:pPr algn="just">
              <a:lnSpc>
                <a:spcPts val="3804"/>
              </a:lnSpc>
            </a:pPr>
          </a:p>
          <a:p>
            <a:pPr algn="just">
              <a:lnSpc>
                <a:spcPts val="3804"/>
              </a:lnSpc>
            </a:pPr>
            <a:r>
              <a:rPr lang="en-US" b="true" sz="3170" u="sng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Potential challenges and risks</a:t>
            </a:r>
          </a:p>
          <a:p>
            <a:pPr algn="l" marL="588391" indent="-294195" lvl="1">
              <a:lnSpc>
                <a:spcPts val="32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Poor image quality, blur or different label layouts may affect OCR accuracy.</a:t>
            </a:r>
          </a:p>
          <a:p>
            <a:pPr algn="l" marL="588391" indent="-294195" lvl="1">
              <a:lnSpc>
                <a:spcPts val="32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labels may contain multiple languages and varying formats.</a:t>
            </a:r>
          </a:p>
          <a:p>
            <a:pPr algn="l" marL="588391" indent="-294195" lvl="1">
              <a:lnSpc>
                <a:spcPts val="32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Legal requirements/rules may change over time.</a:t>
            </a:r>
          </a:p>
          <a:p>
            <a:pPr algn="l">
              <a:lnSpc>
                <a:spcPts val="3270"/>
              </a:lnSpc>
            </a:pPr>
          </a:p>
          <a:p>
            <a:pPr algn="l">
              <a:lnSpc>
                <a:spcPts val="3804"/>
              </a:lnSpc>
            </a:pPr>
            <a:r>
              <a:rPr lang="en-US" b="true" sz="3170" u="sng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Strategies for overcoming these challenges</a:t>
            </a:r>
          </a:p>
          <a:p>
            <a:pPr algn="l" marL="588391" indent="-294195" lvl="1">
              <a:lnSpc>
                <a:spcPts val="32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 image-quality checks + retake guidance before scanning.</a:t>
            </a:r>
          </a:p>
          <a:p>
            <a:pPr algn="l" marL="588391" indent="-294195" lvl="1">
              <a:lnSpc>
                <a:spcPts val="32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multilingual OCR + preprocessing for better extraction.</a:t>
            </a:r>
          </a:p>
          <a:p>
            <a:pPr algn="l" marL="588391" indent="-294195" lvl="1">
              <a:lnSpc>
                <a:spcPts val="32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Maintain an editable, version-controlled compliance rule under database.</a:t>
            </a:r>
          </a:p>
          <a:p>
            <a:pPr algn="l" marL="588391" indent="-294195" lvl="1">
              <a:lnSpc>
                <a:spcPts val="3270"/>
              </a:lnSpc>
              <a:buFont typeface="Arial"/>
              <a:buChar char="•"/>
            </a:pPr>
            <a:r>
              <a:rPr lang="en-US" sz="27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 AI/OCR with rule-based validation and human verification for critical cases.</a:t>
            </a:r>
          </a:p>
          <a:p>
            <a:pPr algn="l">
              <a:lnSpc>
                <a:spcPts val="3270"/>
              </a:lnSpc>
            </a:pPr>
          </a:p>
          <a:p>
            <a:pPr algn="l">
              <a:lnSpc>
                <a:spcPts val="3804"/>
              </a:lnSpc>
            </a:pPr>
          </a:p>
          <a:p>
            <a:pPr algn="l">
              <a:lnSpc>
                <a:spcPts val="3804"/>
              </a:lnSpc>
            </a:pPr>
          </a:p>
          <a:p>
            <a:pPr algn="l">
              <a:lnSpc>
                <a:spcPts val="327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Hexad Debuggers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8" id="18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0" t="0" r="-27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2927841" y="4301589"/>
            <a:ext cx="1957932" cy="1683822"/>
          </a:xfrm>
          <a:custGeom>
            <a:avLst/>
            <a:gdLst/>
            <a:ahLst/>
            <a:cxnLst/>
            <a:rect r="r" b="b" t="t" l="l"/>
            <a:pathLst>
              <a:path h="1683822" w="1957932">
                <a:moveTo>
                  <a:pt x="0" y="0"/>
                </a:moveTo>
                <a:lnTo>
                  <a:pt x="1957932" y="0"/>
                </a:lnTo>
                <a:lnTo>
                  <a:pt x="1957932" y="1683822"/>
                </a:lnTo>
                <a:lnTo>
                  <a:pt x="0" y="16838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767604" y="4301589"/>
            <a:ext cx="1605996" cy="1699467"/>
          </a:xfrm>
          <a:custGeom>
            <a:avLst/>
            <a:gdLst/>
            <a:ahLst/>
            <a:cxnLst/>
            <a:rect r="r" b="b" t="t" l="l"/>
            <a:pathLst>
              <a:path h="1699467" w="1605996">
                <a:moveTo>
                  <a:pt x="0" y="0"/>
                </a:moveTo>
                <a:lnTo>
                  <a:pt x="1605996" y="0"/>
                </a:lnTo>
                <a:lnTo>
                  <a:pt x="1605996" y="1699467"/>
                </a:lnTo>
                <a:lnTo>
                  <a:pt x="0" y="16994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370401" y="6390576"/>
            <a:ext cx="3346829" cy="1971055"/>
          </a:xfrm>
          <a:custGeom>
            <a:avLst/>
            <a:gdLst/>
            <a:ahLst/>
            <a:cxnLst/>
            <a:rect r="r" b="b" t="t" l="l"/>
            <a:pathLst>
              <a:path h="1971055" w="3346829">
                <a:moveTo>
                  <a:pt x="0" y="0"/>
                </a:moveTo>
                <a:lnTo>
                  <a:pt x="3346829" y="0"/>
                </a:lnTo>
                <a:lnTo>
                  <a:pt x="3346829" y="1971055"/>
                </a:lnTo>
                <a:lnTo>
                  <a:pt x="0" y="19710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3862" r="0" b="-23862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38506" y="1624012"/>
            <a:ext cx="17810988" cy="748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2"/>
              </a:lnSpc>
            </a:pPr>
            <a:r>
              <a:rPr lang="en-US" b="true" sz="3210" u="sng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Potential impact on the target audience</a:t>
            </a:r>
          </a:p>
          <a:p>
            <a:pPr algn="l" marL="599339" indent="-299670" lvl="1">
              <a:lnSpc>
                <a:spcPts val="3331"/>
              </a:lnSpc>
              <a:buFont typeface="Arial"/>
              <a:buChar char="•"/>
            </a:pPr>
            <a:r>
              <a:rPr lang="en-US" b="true" sz="27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Enforcement Officials:</a:t>
            </a:r>
            <a:r>
              <a:rPr lang="en-US" sz="27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Faster and more systematic inspection of packaged commodities.</a:t>
            </a:r>
          </a:p>
          <a:p>
            <a:pPr algn="l" marL="599339" indent="-299670" lvl="1">
              <a:lnSpc>
                <a:spcPts val="3331"/>
              </a:lnSpc>
              <a:buFont typeface="Arial"/>
              <a:buChar char="•"/>
            </a:pPr>
            <a:r>
              <a:rPr lang="en-US" b="true" sz="27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Manufactures &amp; Sellers: </a:t>
            </a:r>
            <a:r>
              <a:rPr lang="en-US" sz="27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Early identification of labelling errors and improved compliance.</a:t>
            </a:r>
          </a:p>
          <a:p>
            <a:pPr algn="l" marL="599339" indent="-299670" lvl="1">
              <a:lnSpc>
                <a:spcPts val="3331"/>
              </a:lnSpc>
              <a:buFont typeface="Arial"/>
              <a:buChar char="•"/>
            </a:pPr>
            <a:r>
              <a:rPr lang="en-US" b="true" sz="277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Consumers: </a:t>
            </a:r>
            <a:r>
              <a:rPr lang="en-US" sz="27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Better assurance that product information is complete, correct and transparent.</a:t>
            </a:r>
          </a:p>
          <a:p>
            <a:pPr algn="l">
              <a:lnSpc>
                <a:spcPts val="3331"/>
              </a:lnSpc>
            </a:pPr>
            <a:r>
              <a:rPr lang="en-US" sz="27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>
              <a:lnSpc>
                <a:spcPts val="3852"/>
              </a:lnSpc>
            </a:pPr>
            <a:r>
              <a:rPr lang="en-US" b="true" sz="3210" u="sng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Benefits of the solution</a:t>
            </a:r>
          </a:p>
          <a:p>
            <a:pPr algn="l" marL="622796" indent="-311398" lvl="1">
              <a:lnSpc>
                <a:spcPts val="3461"/>
              </a:lnSpc>
              <a:buFont typeface="Arial"/>
              <a:buChar char="•"/>
            </a:pPr>
            <a:r>
              <a:rPr lang="en-US" b="true" sz="288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Social: </a:t>
            </a:r>
            <a:r>
              <a:rPr lang="en-US" sz="28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Promotes consumer awareness, transparency and fair trade practices.</a:t>
            </a:r>
          </a:p>
          <a:p>
            <a:pPr algn="l" marL="622796" indent="-311398" lvl="1">
              <a:lnSpc>
                <a:spcPts val="3461"/>
              </a:lnSpc>
              <a:buFont typeface="Arial"/>
              <a:buChar char="•"/>
            </a:pPr>
            <a:r>
              <a:rPr lang="en-US" b="true" sz="288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Economic:</a:t>
            </a:r>
            <a:r>
              <a:rPr lang="en-US" sz="28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Reduces manual inspection time and helps businesses avoid penalties due to accidental non-compliance.</a:t>
            </a:r>
          </a:p>
          <a:p>
            <a:pPr algn="l" marL="622796" indent="-311398" lvl="1">
              <a:lnSpc>
                <a:spcPts val="3461"/>
              </a:lnSpc>
              <a:buFont typeface="Arial"/>
              <a:buChar char="•"/>
            </a:pPr>
            <a:r>
              <a:rPr lang="en-US" b="true" sz="288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Environmental:</a:t>
            </a:r>
            <a:r>
              <a:rPr lang="en-US" sz="28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Reduces paper-based inspection records through digital reports and documentation.</a:t>
            </a:r>
          </a:p>
          <a:p>
            <a:pPr algn="l" marL="622796" indent="-311398" lvl="1">
              <a:lnSpc>
                <a:spcPts val="3461"/>
              </a:lnSpc>
              <a:buFont typeface="Arial"/>
              <a:buChar char="•"/>
            </a:pPr>
            <a:r>
              <a:rPr lang="en-US" b="true" sz="288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Operational:</a:t>
            </a:r>
            <a:r>
              <a:rPr lang="en-US" sz="28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Enables faster scanning, automated checks, searchable records and standardised compliance reports.</a:t>
            </a:r>
          </a:p>
          <a:p>
            <a:pPr algn="l" marL="622796" indent="-311398" lvl="1">
              <a:lnSpc>
                <a:spcPts val="3461"/>
              </a:lnSpc>
              <a:buFont typeface="Arial"/>
              <a:buChar char="•"/>
            </a:pPr>
            <a:r>
              <a:rPr lang="en-US" b="true" sz="288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Long-term:</a:t>
            </a:r>
            <a:r>
              <a:rPr lang="en-US" sz="28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Creates and digital compliance history that can support data-driven enforcement.</a:t>
            </a:r>
            <a:r>
              <a:rPr lang="en-US" sz="28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3461"/>
              </a:lnSpc>
            </a:pPr>
          </a:p>
          <a:p>
            <a:pPr algn="l">
              <a:lnSpc>
                <a:spcPts val="3461"/>
              </a:lnSpc>
            </a:pPr>
            <a:r>
              <a:rPr lang="en-US" b="true" sz="2884" i="true">
                <a:solidFill>
                  <a:srgbClr val="1800A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An AI-assisted, product-independent compliance screening system that converts packaging images into structured declarations and evaluates them against Legal Metrology requirements, while explicitly handling OCR uncertainty to avoid false compliance violations.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Hexad Debuggers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8" id="18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0" t="0" r="-27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5712797" y="1919622"/>
            <a:ext cx="1660803" cy="2290763"/>
          </a:xfrm>
          <a:custGeom>
            <a:avLst/>
            <a:gdLst/>
            <a:ahLst/>
            <a:cxnLst/>
            <a:rect r="r" b="b" t="t" l="l"/>
            <a:pathLst>
              <a:path h="2290763" w="1660803">
                <a:moveTo>
                  <a:pt x="0" y="0"/>
                </a:moveTo>
                <a:lnTo>
                  <a:pt x="1660803" y="0"/>
                </a:lnTo>
                <a:lnTo>
                  <a:pt x="1660803" y="2290763"/>
                </a:lnTo>
                <a:lnTo>
                  <a:pt x="0" y="22907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1948740"/>
            <a:ext cx="13401647" cy="833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87"/>
              </a:lnSpc>
            </a:pPr>
            <a:r>
              <a:rPr lang="en-US" b="true" sz="2489" u="sng">
                <a:solidFill>
                  <a:srgbClr val="0070C0"/>
                </a:solidFill>
                <a:latin typeface="Arial Bold"/>
                <a:ea typeface="Arial Bold"/>
                <a:cs typeface="Arial Bold"/>
                <a:sym typeface="Arial Bold"/>
              </a:rPr>
              <a:t>Details / Links of the reference and research work</a:t>
            </a:r>
          </a:p>
          <a:p>
            <a:pPr algn="l" marL="545101" indent="-272551" lvl="1">
              <a:lnSpc>
                <a:spcPts val="3029"/>
              </a:lnSpc>
              <a:buAutoNum type="arabicPeriod" startAt="1"/>
            </a:pPr>
            <a:r>
              <a:rPr lang="en-US" sz="25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Consumer Affairs, Government of India — Legal Metrology</a:t>
            </a:r>
          </a:p>
          <a:p>
            <a:pPr algn="l">
              <a:lnSpc>
                <a:spcPts val="3029"/>
              </a:lnSpc>
            </a:pPr>
          </a:p>
          <a:p>
            <a:pPr algn="l" marL="545101" indent="-272551" lvl="1">
              <a:lnSpc>
                <a:spcPts val="3029"/>
              </a:lnSpc>
              <a:buAutoNum type="arabicPeriod" startAt="1"/>
            </a:pPr>
            <a:r>
              <a:rPr lang="en-US" sz="25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Legal Metrology (Packaged Commodities) Rules, 2011 &amp; amendments</a:t>
            </a:r>
          </a:p>
          <a:p>
            <a:pPr algn="l">
              <a:lnSpc>
                <a:spcPts val="3029"/>
              </a:lnSpc>
            </a:pPr>
          </a:p>
          <a:p>
            <a:pPr algn="l" marL="545101" indent="-272551" lvl="1">
              <a:lnSpc>
                <a:spcPts val="3029"/>
              </a:lnSpc>
              <a:buAutoNum type="arabicPeriod" startAt="1"/>
            </a:pPr>
            <a:r>
              <a:rPr lang="en-US" sz="25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PaddleOCR Documentation</a:t>
            </a:r>
          </a:p>
          <a:p>
            <a:pPr algn="l">
              <a:lnSpc>
                <a:spcPts val="3029"/>
              </a:lnSpc>
            </a:pPr>
          </a:p>
          <a:p>
            <a:pPr algn="l" marL="545101" indent="-272551" lvl="1">
              <a:lnSpc>
                <a:spcPts val="3029"/>
              </a:lnSpc>
              <a:buAutoNum type="arabicPeriod" startAt="1"/>
            </a:pPr>
            <a:r>
              <a:rPr lang="en-US" sz="25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OCR and text extraction</a:t>
            </a:r>
          </a:p>
          <a:p>
            <a:pPr algn="l">
              <a:lnSpc>
                <a:spcPts val="3029"/>
              </a:lnSpc>
            </a:pPr>
          </a:p>
          <a:p>
            <a:pPr algn="l" marL="545101" indent="-272551" lvl="1">
              <a:lnSpc>
                <a:spcPts val="3029"/>
              </a:lnSpc>
              <a:buAutoNum type="arabicPeriod" startAt="1"/>
            </a:pPr>
            <a:r>
              <a:rPr lang="en-US" sz="25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 Documentation</a:t>
            </a:r>
          </a:p>
          <a:p>
            <a:pPr algn="l">
              <a:lnSpc>
                <a:spcPts val="3029"/>
              </a:lnSpc>
            </a:pPr>
          </a:p>
          <a:p>
            <a:pPr algn="l" marL="545101" indent="-272551" lvl="1">
              <a:lnSpc>
                <a:spcPts val="3029"/>
              </a:lnSpc>
              <a:buAutoNum type="arabicPeriod" startAt="1"/>
            </a:pPr>
            <a:r>
              <a:rPr lang="en-US" sz="25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REST API development</a:t>
            </a:r>
          </a:p>
          <a:p>
            <a:pPr algn="l">
              <a:lnSpc>
                <a:spcPts val="3029"/>
              </a:lnSpc>
            </a:pPr>
          </a:p>
          <a:p>
            <a:pPr algn="l" marL="545101" indent="-272551" lvl="1">
              <a:lnSpc>
                <a:spcPts val="3029"/>
              </a:lnSpc>
              <a:buAutoNum type="arabicPeriod" startAt="1"/>
            </a:pPr>
            <a:r>
              <a:rPr lang="en-US" sz="25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Render Documentation</a:t>
            </a:r>
          </a:p>
          <a:p>
            <a:pPr algn="l">
              <a:lnSpc>
                <a:spcPts val="3029"/>
              </a:lnSpc>
            </a:pPr>
          </a:p>
          <a:p>
            <a:pPr algn="l" marL="545101" indent="-272551" lvl="1">
              <a:lnSpc>
                <a:spcPts val="3029"/>
              </a:lnSpc>
              <a:buAutoNum type="arabicPeriod" startAt="1"/>
            </a:pPr>
            <a:r>
              <a:rPr lang="en-US" sz="25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deployment</a:t>
            </a:r>
          </a:p>
          <a:p>
            <a:pPr algn="just">
              <a:lnSpc>
                <a:spcPts val="2719"/>
              </a:lnSpc>
            </a:pPr>
          </a:p>
          <a:p>
            <a:pPr algn="just">
              <a:lnSpc>
                <a:spcPts val="2987"/>
              </a:lnSpc>
            </a:pPr>
          </a:p>
          <a:p>
            <a:pPr algn="just">
              <a:lnSpc>
                <a:spcPts val="2987"/>
              </a:lnSpc>
            </a:pPr>
          </a:p>
          <a:p>
            <a:pPr algn="just">
              <a:lnSpc>
                <a:spcPts val="2987"/>
              </a:lnSpc>
            </a:pPr>
          </a:p>
          <a:p>
            <a:pPr algn="just">
              <a:lnSpc>
                <a:spcPts val="2987"/>
              </a:lnSpc>
            </a:pPr>
          </a:p>
          <a:p>
            <a:pPr algn="just">
              <a:lnSpc>
                <a:spcPts val="2987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15" id="15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Hexad Debuggers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8" id="18" descr="https://www.sih.gov.in/img1/SIH-Logo.png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762045" y="9449"/>
            <a:ext cx="3313681" cy="1684306"/>
            <a:chOff x="0" y="0"/>
            <a:chExt cx="4418241" cy="22457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0" t="0" r="-27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2499719" y="2697742"/>
            <a:ext cx="4524652" cy="4891515"/>
          </a:xfrm>
          <a:custGeom>
            <a:avLst/>
            <a:gdLst/>
            <a:ahLst/>
            <a:cxnLst/>
            <a:rect r="r" b="b" t="t" l="l"/>
            <a:pathLst>
              <a:path h="4891515" w="4524652">
                <a:moveTo>
                  <a:pt x="0" y="0"/>
                </a:moveTo>
                <a:lnTo>
                  <a:pt x="4524652" y="0"/>
                </a:lnTo>
                <a:lnTo>
                  <a:pt x="4524652" y="4891516"/>
                </a:lnTo>
                <a:lnTo>
                  <a:pt x="0" y="48915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DAHUtbjX-Uk</dc:identifier>
  <dcterms:modified xsi:type="dcterms:W3CDTF">2011-08-01T06:04:30Z</dcterms:modified>
  <cp:revision>1</cp:revision>
  <dc:title>SIH2025-IDEA-Presentation-Format.pptx</dc:title>
</cp:coreProperties>
</file>